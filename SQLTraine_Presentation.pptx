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9071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024773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647857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3026851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4152114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3869562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9807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2371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538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47A26D-AC01-A372-4BC6-C5023DA708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460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516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463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5E2557-D3C1-A2C3-D27F-906352C50B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5333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135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724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44054-310D-5971-CF7F-9A253431C5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8595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3363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284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903044-1AD5-EECF-F323-54F52FE21C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40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124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93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39B346-06B7-7983-9548-1C3CD93AB5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4123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4113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2900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2772A-108C-D653-EC41-1C2C51BBCF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5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928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E8C2F8-877C-3F4C-82A4-4D374948D4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433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3098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0111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1CEC1-BB38-9ADD-098A-65571CB0C0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30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8273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269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645E91-8BD9-EBA7-A846-7FD4C73BBE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70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35973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654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E04C7C-7B17-2C0E-244F-C2646FAC61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7681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3045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084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6F5566-961E-748F-8F64-7223D0B6AC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5823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6577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037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32BE11-0059-BA18-3872-0EA6E459F9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118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0307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1018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9F974F-8159-884C-1D56-144D450455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996289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849237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753997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533570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25470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5806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42126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94605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624095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2636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08712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38322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63073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673157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0486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9826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540295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954781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43880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717767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53880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945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37371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384764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112598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519298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21429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7083061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755085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1665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43609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3553144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978702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74198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7267552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76890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75883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102571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105663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69249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96719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25099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3257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72298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8316508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0737417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85004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89136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9589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371137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053581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517053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08195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4375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911169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429999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12580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24022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96136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3698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399924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7637938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46274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media1.sv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502506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923370" name="TextBox 2"/>
          <p:cNvSpPr txBox="1"/>
          <p:nvPr/>
        </p:nvSpPr>
        <p:spPr bwMode="auto">
          <a:xfrm>
            <a:off x="914400" y="1645920"/>
            <a:ext cx="10059479" cy="94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A8E8"/>
                </a:solidFill>
                <a:latin typeface="Calibri"/>
              </a:defRPr>
            </a:pPr>
            <a:r>
              <a:rPr/>
              <a:t>SQLTraine</a:t>
            </a:r>
            <a:r>
              <a:rPr lang="en-US"/>
              <a:t>r</a:t>
            </a:r>
            <a:endParaRPr/>
          </a:p>
        </p:txBody>
      </p:sp>
      <p:sp>
        <p:nvSpPr>
          <p:cNvPr id="872756515" name="TextBox 3"/>
          <p:cNvSpPr txBox="1"/>
          <p:nvPr/>
        </p:nvSpPr>
        <p:spPr bwMode="auto">
          <a:xfrm>
            <a:off x="915479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rPr/>
              <a:t>Интерактивный SQL-тренажёр</a:t>
            </a:r>
            <a:endParaRPr/>
          </a:p>
        </p:txBody>
      </p:sp>
      <p:sp>
        <p:nvSpPr>
          <p:cNvPr id="1203690253" name="TextBox 4"/>
          <p:cNvSpPr txBox="1"/>
          <p:nvPr/>
        </p:nvSpPr>
        <p:spPr bwMode="auto">
          <a:xfrm>
            <a:off x="914400" y="3566160"/>
            <a:ext cx="10058759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endParaRPr/>
          </a:p>
        </p:txBody>
      </p:sp>
      <p:sp>
        <p:nvSpPr>
          <p:cNvPr id="923792406" name="TextBox 5"/>
          <p:cNvSpPr txBox="1"/>
          <p:nvPr/>
        </p:nvSpPr>
        <p:spPr bwMode="auto">
          <a:xfrm>
            <a:off x="7151080" y="4945155"/>
            <a:ext cx="10082879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rPr lang="ru-RU"/>
              <a:t>Слушатель: Марков Денис Вячеславович</a:t>
            </a:r>
            <a:endParaRPr/>
          </a:p>
        </p:txBody>
      </p:sp>
      <p:sp>
        <p:nvSpPr>
          <p:cNvPr id="628302390" name="TextBox 5"/>
          <p:cNvSpPr txBox="1"/>
          <p:nvPr/>
        </p:nvSpPr>
        <p:spPr bwMode="auto">
          <a:xfrm>
            <a:off x="7146041" y="5480422"/>
            <a:ext cx="10087198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rPr lang="ru-RU"/>
              <a:t>Преподаватель: Рудак Александра Сергеевна</a:t>
            </a:r>
            <a:endParaRPr/>
          </a:p>
        </p:txBody>
      </p:sp>
      <p:sp>
        <p:nvSpPr>
          <p:cNvPr id="1388743443" name="TextBox 3"/>
          <p:cNvSpPr txBox="1"/>
          <p:nvPr/>
        </p:nvSpPr>
        <p:spPr bwMode="auto">
          <a:xfrm>
            <a:off x="778255" y="6278519"/>
            <a:ext cx="10061639" cy="5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rPr lang="ru-RU"/>
              <a:t>2026 год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555570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1234760" name="TextBox 2"/>
          <p:cNvSpPr txBox="1"/>
          <p:nvPr/>
        </p:nvSpPr>
        <p:spPr bwMode="auto">
          <a:xfrm>
            <a:off x="548640" y="365760"/>
            <a:ext cx="10981798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E8"/>
                </a:solidFill>
                <a:latin typeface="Calibri"/>
              </a:defRPr>
            </a:pPr>
            <a:r>
              <a:rPr lang="ru-RU">
                <a:solidFill>
                  <a:srgbClr val="0A9AE3"/>
                </a:solidFill>
              </a:rPr>
              <a:t>Описание проекта</a:t>
            </a:r>
            <a:endParaRPr/>
          </a:p>
        </p:txBody>
      </p:sp>
      <p:sp>
        <p:nvSpPr>
          <p:cNvPr id="1707334350" name="TextBox 3"/>
          <p:cNvSpPr txBox="1"/>
          <p:nvPr/>
        </p:nvSpPr>
        <p:spPr bwMode="auto">
          <a:xfrm flipH="0" flipV="0">
            <a:off x="731519" y="1408952"/>
            <a:ext cx="10884061" cy="153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9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US" sz="1600" b="1" i="0" u="sng" strike="noStrike" cap="none" spc="0">
                <a:solidFill>
                  <a:srgbClr val="FFFF00"/>
                </a:solidFill>
                <a:latin typeface="Arial Black"/>
                <a:ea typeface="Arial Black"/>
                <a:cs typeface="Arial Black"/>
              </a:rPr>
              <a:t>Цель проекта:</a:t>
            </a:r>
            <a:r>
              <a:rPr lang="en-US" sz="1600" b="1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  <a:p>
            <a:pPr>
              <a:lnSpc>
                <a:spcPct val="150000"/>
              </a:lnSpc>
              <a:spcAft>
                <a:spcPts val="799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Разработать веб-приложение для отработки навыков SQL с автоматической верификацией запросов в песочнице PostgreSQL, библиотекой задач разной сложности, теоретическими статьями. 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910076102" name="TextBox 3"/>
          <p:cNvSpPr txBox="1"/>
          <p:nvPr/>
        </p:nvSpPr>
        <p:spPr bwMode="auto">
          <a:xfrm flipH="0" flipV="0">
            <a:off x="731518" y="3895911"/>
            <a:ext cx="10885140" cy="155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600" b="0" i="0" u="none" strike="noStrike" cap="none" spc="0">
                <a:solidFill>
                  <a:srgbClr val="FFFF00"/>
                </a:solidFill>
                <a:latin typeface="Arial Black"/>
                <a:ea typeface="Arial Black"/>
                <a:cs typeface="Arial Black"/>
              </a:rPr>
              <a:t>Целевая аудитория: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cs typeface="Arial Black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- Студенты, изучающие базы данных (основная аудитория)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cs typeface="Arial Black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- Начинающие разработчики, желающие прокачать SQL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cs typeface="Arial Black"/>
            </a:endParaRPr>
          </a:p>
          <a:p>
            <a:pPr>
              <a:lnSpc>
                <a:spcPct val="150000"/>
              </a:lnSpc>
              <a:spcAft>
                <a:spcPts val="799"/>
              </a:spcAft>
              <a:defRPr sz="2000">
                <a:solidFill>
                  <a:srgbClr val="FFFFFF"/>
                </a:solidFill>
                <a:latin typeface="Calibri"/>
              </a:defRPr>
            </a:pP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621258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6785566" name="TextBox 3"/>
          <p:cNvSpPr txBox="1"/>
          <p:nvPr/>
        </p:nvSpPr>
        <p:spPr bwMode="auto">
          <a:xfrm flipH="0" flipV="0">
            <a:off x="722180" y="507115"/>
            <a:ext cx="10901700" cy="594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600" b="1" i="0" u="none" strike="noStrike" cap="none" spc="0">
                <a:solidFill>
                  <a:srgbClr val="0A9AE3"/>
                </a:solidFill>
                <a:latin typeface="Calibri"/>
                <a:ea typeface="Calibri"/>
                <a:cs typeface="Calibri"/>
              </a:rPr>
              <a:t>Ключевые функции: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  <a:p>
            <a:pPr>
              <a:defRPr/>
            </a:pPr>
            <a:endParaRPr lang="en-US" sz="1600" b="0" i="0" u="none" strike="noStrike" cap="none" spc="0">
              <a:solidFill>
                <a:srgbClr val="FFFFFF"/>
              </a:solidFill>
              <a:latin typeface="Arial Black"/>
              <a:cs typeface="Arial Black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en-US" sz="1600" b="0" i="0" u="none" strike="noStrike" cap="none" spc="0">
                <a:solidFill>
                  <a:srgbClr val="FFFF00"/>
                </a:solidFill>
                <a:latin typeface="Arial Black"/>
                <a:ea typeface="Arial Black"/>
                <a:cs typeface="Arial Black"/>
              </a:rPr>
              <a:t>Для пользователей</a:t>
            </a: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: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  <a:p>
            <a:pPr marL="261850" indent="-26185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Регистрация/JWT-авторизация,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  <a:p>
            <a:pPr marL="261850" indent="-26185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ru-RU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</a:t>
            </a: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росмотр и поиск задач (фильтр по сложности, категории),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  <a:p>
            <a:pPr marL="261850" indent="-26185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ru-RU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Н</a:t>
            </a: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аписание SQL в Monaco Editor, запуск (проверка вывода) и отправка (авто-верификация),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  <a:p>
            <a:pPr marL="261850" indent="-26185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ru-RU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</a:t>
            </a: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одсказки,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  <a:p>
            <a:pPr marL="261850" indent="-26185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ru-RU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И</a:t>
            </a: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стория отправок, 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  <a:p>
            <a:pPr marL="261850" indent="-261850">
              <a:lnSpc>
                <a:spcPct val="150000"/>
              </a:lnSpc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ru-RU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</a:t>
            </a: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рофиль со статистикой,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  <a:p>
            <a:pPr>
              <a:lnSpc>
                <a:spcPct val="150000"/>
              </a:lnSpc>
              <a:defRPr/>
            </a:pPr>
            <a:endParaRPr lang="en-US" sz="1600" b="0" i="0" u="none" strike="noStrike" cap="none" spc="0">
              <a:solidFill>
                <a:srgbClr val="FFFFFF"/>
              </a:solidFill>
              <a:latin typeface="Arial Black"/>
              <a:cs typeface="Arial Black"/>
            </a:endParaRPr>
          </a:p>
          <a:p>
            <a:pPr>
              <a:lnSpc>
                <a:spcPct val="150000"/>
              </a:lnSpc>
              <a:spcAft>
                <a:spcPts val="799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en-US" sz="1600" b="0" i="0" u="none" strike="noStrike" cap="none" spc="0">
                <a:solidFill>
                  <a:srgbClr val="FFFF00"/>
                </a:solidFill>
                <a:latin typeface="Arial Black"/>
                <a:ea typeface="Arial Black"/>
                <a:cs typeface="Arial Black"/>
              </a:rPr>
              <a:t>Для администратора</a:t>
            </a: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: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  <a:p>
            <a:pPr marL="261850" indent="-261850">
              <a:lnSpc>
                <a:spcPct val="150000"/>
              </a:lnSpc>
              <a:spcAft>
                <a:spcPts val="799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CRUD задач с визуальным конструктором схемы (SchemaBuilder),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  <a:p>
            <a:pPr marL="261850" indent="-261850">
              <a:lnSpc>
                <a:spcPct val="150000"/>
              </a:lnSpc>
              <a:spcAft>
                <a:spcPts val="799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CRUD статей теории (Markdown + загрузка изображений),</a:t>
            </a:r>
            <a:endParaRPr lang="en-US" sz="1600" b="0" i="0" u="none" strike="noStrike" cap="none" spc="0">
              <a:solidFill>
                <a:srgbClr val="FFFFFF"/>
              </a:solidFill>
              <a:latin typeface="Arial Black"/>
              <a:ea typeface="Arial Black"/>
              <a:cs typeface="Arial Black"/>
            </a:endParaRPr>
          </a:p>
          <a:p>
            <a:pPr marL="261850" indent="-261850">
              <a:lnSpc>
                <a:spcPct val="150000"/>
              </a:lnSpc>
              <a:spcAft>
                <a:spcPts val="799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ru-RU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</a:t>
            </a:r>
            <a:r>
              <a:rPr lang="en-US" sz="1600" b="0" i="0" u="none" strike="noStrike" cap="none" spc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ривязка статей к задачам, таблица лидеров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348310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8857218" name="TextBox 2"/>
          <p:cNvSpPr txBox="1"/>
          <p:nvPr/>
        </p:nvSpPr>
        <p:spPr bwMode="auto"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E8"/>
                </a:solidFill>
                <a:latin typeface="Calibri"/>
              </a:defRPr>
            </a:pPr>
            <a:r>
              <a:rPr/>
              <a:t>Технологический стек</a:t>
            </a:r>
            <a:endParaRPr/>
          </a:p>
        </p:txBody>
      </p:sp>
      <p:graphicFrame>
        <p:nvGraphicFramePr>
          <p:cNvPr id="1909276534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1371600" y="1645920"/>
          <a:ext cx="9144000" cy="43891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200400"/>
                <a:gridCol w="5943600"/>
              </a:tblGrid>
              <a:tr h="548640">
                <a:tc>
                  <a:txBody>
                    <a:bodyPr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Компонент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Технология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Backend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Django 6 + Django REST Framework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Frontend</a:t>
                      </a:r>
                      <a:endParaRPr/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React 18 </a:t>
                      </a:r>
                      <a:endParaRPr/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База данных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PostgreSQL 15+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Редактор кода</a:t>
                      </a:r>
                      <a:endParaRPr/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Monaco Editor</a:t>
                      </a:r>
                      <a:r>
                        <a:rPr lang="ru-RU"/>
                        <a:t> + </a:t>
                      </a:r>
                      <a:r>
                        <a:rPr lang="en-US"/>
                        <a:t>Monaco-sql-language</a:t>
                      </a:r>
                      <a:endParaRPr/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Стилизация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Tailwind CSS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Контейнеризация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Docker + Docker Compose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472556" name=""/>
          <p:cNvSpPr/>
          <p:nvPr/>
        </p:nvSpPr>
        <p:spPr bwMode="auto">
          <a:xfrm rot="0" flipH="0" flipV="0">
            <a:off x="215735" y="1301749"/>
            <a:ext cx="11140514" cy="555624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ru-RU" sz="4800"/>
              <a:t>Сеть </a:t>
            </a:r>
            <a:r>
              <a:rPr lang="en-US" sz="4800"/>
              <a:t>sqltrain</a:t>
            </a:r>
            <a:endParaRPr sz="4800"/>
          </a:p>
        </p:txBody>
      </p:sp>
      <p:sp>
        <p:nvSpPr>
          <p:cNvPr id="2023619747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5657201" name="TextBox 2"/>
          <p:cNvSpPr txBox="1"/>
          <p:nvPr/>
        </p:nvSpPr>
        <p:spPr bwMode="auto"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E8"/>
                </a:solidFill>
                <a:latin typeface="Calibri"/>
              </a:defRPr>
            </a:pPr>
            <a:r>
              <a:rPr/>
              <a:t>Архитектура приложения</a:t>
            </a:r>
            <a:endParaRPr/>
          </a:p>
        </p:txBody>
      </p:sp>
      <p:sp>
        <p:nvSpPr>
          <p:cNvPr id="1899943794" name="TextBox 3"/>
          <p:cNvSpPr txBox="1"/>
          <p:nvPr/>
        </p:nvSpPr>
        <p:spPr bwMode="auto">
          <a:xfrm>
            <a:off x="666152" y="930729"/>
            <a:ext cx="10518838" cy="74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/>
              <a:t>Три сервиса в Docker Compose, объединённые сетью sqltrain:</a:t>
            </a: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1626464482" name=""/>
          <p:cNvSpPr/>
          <p:nvPr/>
        </p:nvSpPr>
        <p:spPr bwMode="auto">
          <a:xfrm rot="0" flipH="0" flipV="0">
            <a:off x="7932482" y="2717558"/>
            <a:ext cx="1996797" cy="1064558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/>
              <a:t>db</a:t>
            </a:r>
            <a:endParaRPr lang="en-US"/>
          </a:p>
          <a:p>
            <a:pPr algn="l">
              <a:defRPr/>
            </a:pPr>
            <a:r>
              <a:rPr/>
              <a:t>О</a:t>
            </a:r>
            <a:r>
              <a:rPr lang="ru-RU"/>
              <a:t>браз: </a:t>
            </a:r>
            <a:r>
              <a:rPr lang="en-US"/>
              <a:t>postgres</a:t>
            </a:r>
            <a:endParaRPr/>
          </a:p>
          <a:p>
            <a:pPr algn="l">
              <a:defRPr/>
            </a:pPr>
            <a:r>
              <a:rPr lang="ru-RU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Порт: 5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Calibri"/>
                <a:ea typeface="Arial"/>
                <a:cs typeface="Arial"/>
              </a:rPr>
              <a:t>432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&gt;5433</a:t>
            </a:r>
            <a:endParaRPr lang="en-US"/>
          </a:p>
          <a:p>
            <a:pPr algn="l">
              <a:defRPr/>
            </a:pPr>
            <a:endParaRPr/>
          </a:p>
        </p:txBody>
      </p:sp>
      <p:sp>
        <p:nvSpPr>
          <p:cNvPr id="1909064514" name=""/>
          <p:cNvSpPr/>
          <p:nvPr/>
        </p:nvSpPr>
        <p:spPr bwMode="auto">
          <a:xfrm rot="0" flipH="0" flipV="0">
            <a:off x="4749043" y="4715341"/>
            <a:ext cx="2231748" cy="1043547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/>
              <a:t>backend</a:t>
            </a:r>
            <a:endParaRPr lang="en-US"/>
          </a:p>
          <a:p>
            <a:pPr algn="l">
              <a:defRPr/>
            </a:pPr>
            <a:r>
              <a:rPr/>
              <a:t>О</a:t>
            </a:r>
            <a:r>
              <a:rPr lang="ru-RU"/>
              <a:t>браз: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Dockerfile</a:t>
            </a:r>
            <a:endParaRPr lang="en-US"/>
          </a:p>
          <a:p>
            <a:pPr algn="l">
              <a:defRPr/>
            </a:pPr>
            <a:r>
              <a:rPr lang="ru-RU" sz="1800" b="0" i="0" u="none" strike="noStrike" cap="none" spc="0">
                <a:solidFill>
                  <a:schemeClr val="lt1"/>
                </a:solidFill>
                <a:latin typeface="Calibri"/>
                <a:ea typeface="Arial"/>
                <a:cs typeface="Arial"/>
              </a:rPr>
              <a:t>Порт: 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Calibri"/>
                <a:ea typeface="Arial"/>
                <a:cs typeface="Arial"/>
              </a:rPr>
              <a:t>8000</a:t>
            </a:r>
            <a:r>
              <a:rPr lang="ru-RU" sz="1800" b="0" i="0" u="none" strike="noStrike" cap="none" spc="0">
                <a:solidFill>
                  <a:schemeClr val="lt1"/>
                </a:solidFill>
                <a:latin typeface="Calibri"/>
                <a:ea typeface="Arial"/>
                <a:cs typeface="Arial"/>
              </a:rPr>
              <a:t>-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Calibri"/>
                <a:ea typeface="Arial"/>
                <a:cs typeface="Arial"/>
              </a:rPr>
              <a:t>&gt;8000</a:t>
            </a:r>
            <a:endParaRPr lang="ru-RU"/>
          </a:p>
          <a:p>
            <a:pPr algn="l">
              <a:defRPr/>
            </a:pPr>
            <a:endParaRPr lang="en-US"/>
          </a:p>
          <a:p>
            <a:pPr algn="l">
              <a:defRPr/>
            </a:pPr>
            <a:endParaRPr/>
          </a:p>
        </p:txBody>
      </p:sp>
      <p:sp>
        <p:nvSpPr>
          <p:cNvPr id="148708092" name=""/>
          <p:cNvSpPr/>
          <p:nvPr/>
        </p:nvSpPr>
        <p:spPr bwMode="auto">
          <a:xfrm rot="0" flipH="0" flipV="0">
            <a:off x="1136948" y="2864036"/>
            <a:ext cx="2123648" cy="1129926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08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/>
              <a:t>frontend</a:t>
            </a:r>
            <a:endParaRPr lang="en-US"/>
          </a:p>
          <a:p>
            <a:pPr algn="l">
              <a:defRPr/>
            </a:pPr>
            <a:r>
              <a:rPr/>
              <a:t>О</a:t>
            </a:r>
            <a:r>
              <a:rPr lang="ru-RU"/>
              <a:t>браз: </a:t>
            </a:r>
            <a:r>
              <a:rPr lang="en-US"/>
              <a:t>Dockerfile</a:t>
            </a:r>
            <a:endParaRPr lang="en-US"/>
          </a:p>
          <a:p>
            <a:pPr algn="l">
              <a:defRPr/>
            </a:pPr>
            <a:r>
              <a:rPr lang="ru-RU"/>
              <a:t>Порт: 5173</a:t>
            </a:r>
            <a:r>
              <a:rPr lang="en-US"/>
              <a:t> </a:t>
            </a:r>
            <a:r>
              <a:rPr lang="ru-RU"/>
              <a:t>-</a:t>
            </a:r>
            <a:r>
              <a:rPr lang="en-US"/>
              <a:t>&gt;5173</a:t>
            </a:r>
            <a:endParaRPr lang="en-US"/>
          </a:p>
          <a:p>
            <a:pPr algn="l">
              <a:defRPr/>
            </a:pPr>
            <a:endParaRPr/>
          </a:p>
        </p:txBody>
      </p:sp>
      <p:cxnSp>
        <p:nvCxnSpPr>
          <p:cNvPr id="1467072513" name=""/>
          <p:cNvCxnSpPr>
            <a:stCxn id="148708092" idx="3"/>
            <a:endCxn id="1909064514" idx="1"/>
          </p:cNvCxnSpPr>
          <p:nvPr/>
        </p:nvCxnSpPr>
        <p:spPr bwMode="auto">
          <a:xfrm rot="0" flipH="0" flipV="0">
            <a:off x="3260597" y="3429000"/>
            <a:ext cx="1488446" cy="1808115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45480160" name=""/>
          <p:cNvCxnSpPr>
            <a:stCxn id="1909064514" idx="3"/>
            <a:endCxn id="1626464482" idx="1"/>
          </p:cNvCxnSpPr>
          <p:nvPr/>
        </p:nvCxnSpPr>
        <p:spPr bwMode="auto">
          <a:xfrm rot="0" flipH="0" flipV="1">
            <a:off x="6980792" y="3249837"/>
            <a:ext cx="951688" cy="1987277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tailEnd type="arrow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782115918" name=""/>
          <p:cNvSpPr txBox="1"/>
          <p:nvPr/>
        </p:nvSpPr>
        <p:spPr bwMode="auto">
          <a:xfrm rot="0" flipH="0" flipV="0">
            <a:off x="2943282" y="4089182"/>
            <a:ext cx="212307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http://backend:8000 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444569733" name=""/>
          <p:cNvSpPr txBox="1"/>
          <p:nvPr/>
        </p:nvSpPr>
        <p:spPr bwMode="auto">
          <a:xfrm rot="0" flipH="0" flipV="0">
            <a:off x="6589222" y="3993963"/>
            <a:ext cx="198288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postgres://db:5432 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064321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9270274" name="TextBox 2"/>
          <p:cNvSpPr txBox="1"/>
          <p:nvPr/>
        </p:nvSpPr>
        <p:spPr bwMode="auto">
          <a:xfrm>
            <a:off x="344532" y="256902"/>
            <a:ext cx="10986479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E8"/>
                </a:solidFill>
                <a:latin typeface="Calibri"/>
              </a:defRPr>
            </a:pPr>
            <a:r>
              <a:rPr lang="en-US"/>
              <a:t>Docker compose</a:t>
            </a:r>
            <a:endParaRPr/>
          </a:p>
        </p:txBody>
      </p:sp>
      <p:pic>
        <p:nvPicPr>
          <p:cNvPr id="17128633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445803" y="897342"/>
            <a:ext cx="4783577" cy="5868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737845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93427671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rot="0" flipH="0" flipV="0">
            <a:off x="2762400" y="592043"/>
            <a:ext cx="6549238" cy="6265955"/>
          </a:xfrm>
          <a:prstGeom prst="rect">
            <a:avLst/>
          </a:prstGeom>
        </p:spPr>
      </p:pic>
      <p:sp>
        <p:nvSpPr>
          <p:cNvPr id="993872948" name="TextBox 2"/>
          <p:cNvSpPr txBox="1"/>
          <p:nvPr/>
        </p:nvSpPr>
        <p:spPr bwMode="auto">
          <a:xfrm>
            <a:off x="548640" y="271823"/>
            <a:ext cx="10976759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E8"/>
                </a:solidFill>
                <a:latin typeface="Calibri"/>
              </a:defRPr>
            </a:pPr>
            <a:r>
              <a:rPr lang="ru-RU"/>
              <a:t>Схема БД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594897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6366827" name="TextBox 2"/>
          <p:cNvSpPr txBox="1"/>
          <p:nvPr/>
        </p:nvSpPr>
        <p:spPr bwMode="auto"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E8"/>
                </a:solidFill>
                <a:latin typeface="Calibri"/>
              </a:defRPr>
            </a:pPr>
            <a:r>
              <a:rPr/>
              <a:t>API Эндпоинты</a:t>
            </a:r>
            <a:endParaRPr/>
          </a:p>
        </p:txBody>
      </p:sp>
      <p:graphicFrame>
        <p:nvGraphicFramePr>
          <p:cNvPr id="1196299831" name="Table 3"/>
          <p:cNvGraphicFramePr>
            <a:graphicFrameLocks xmlns:a="http://schemas.openxmlformats.org/drawingml/2006/main"/>
          </p:cNvGraphicFramePr>
          <p:nvPr/>
        </p:nvGraphicFramePr>
        <p:xfrm rot="0">
          <a:off x="731520" y="1558289"/>
          <a:ext cx="10698480" cy="384918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645920"/>
                <a:gridCol w="3840480"/>
                <a:gridCol w="5212080"/>
              </a:tblGrid>
              <a:tr h="339634">
                <a:tc>
                  <a:txBody>
                    <a:bodyPr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Метод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URL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Описание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</a:tr>
              <a:tr h="339634">
                <a:tc gridSpan="3">
                  <a:txBody>
                    <a:bodyPr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000"/>
                        <a:t>Auth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39634">
                <a:tc>
                  <a:txBody>
                    <a:bodyPr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POST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/api/auth/register/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Регистрация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POST</a:t>
                      </a:r>
                      <a:endParaRPr/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/api/auth/login/</a:t>
                      </a:r>
                      <a:endParaRPr/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Вход</a:t>
                      </a:r>
                      <a:endParaRPr/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POST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/api/auth/refresh/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Обновление токена</a:t>
                      </a:r>
                      <a:endParaRPr/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 gridSpan="3">
                  <a:txBody>
                    <a:bodyPr/>
                    <a:p>
                      <a:pPr algn="ctr">
                        <a:defRPr/>
                      </a:pPr>
                      <a:r>
                        <a:rPr sz="2000">
                          <a:solidFill>
                            <a:schemeClr val="bg1"/>
                          </a:solidFill>
                        </a:rPr>
                        <a:t>Users</a:t>
                      </a:r>
                      <a:endParaRPr sz="2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>
                          <a:solidFill>
                            <a:schemeClr val="bg1"/>
                          </a:solidFill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>
                          <a:solidFill>
                            <a:schemeClr val="bg1"/>
                          </a:solidFill>
                        </a:rPr>
                        <a:t>/api/users/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Список пользователей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/api/users/me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Текущий пользователь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/api/users/{id}/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Детали пользователя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Calibri"/>
                          <a:ea typeface="Arial"/>
                          <a:cs typeface="Arial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/api/users/{id}/stats/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Статистика (всего/верно/решено)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Calibri"/>
                          <a:ea typeface="Arial"/>
                          <a:cs typeface="Arial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/api/users/{id}/solved/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Список решённых задач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311082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3416190" name="TextBox 2"/>
          <p:cNvSpPr txBox="1"/>
          <p:nvPr/>
        </p:nvSpPr>
        <p:spPr bwMode="auto"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E8"/>
                </a:solidFill>
                <a:latin typeface="Calibri"/>
              </a:defRPr>
            </a:pPr>
            <a:r>
              <a:rPr/>
              <a:t>API Эндпоинты</a:t>
            </a:r>
            <a:endParaRPr/>
          </a:p>
        </p:txBody>
      </p:sp>
      <p:graphicFrame>
        <p:nvGraphicFramePr>
          <p:cNvPr id="920222116" name="Table 3"/>
          <p:cNvGraphicFramePr>
            <a:graphicFrameLocks xmlns:a="http://schemas.openxmlformats.org/drawingml/2006/main"/>
          </p:cNvGraphicFramePr>
          <p:nvPr/>
        </p:nvGraphicFramePr>
        <p:xfrm rot="0">
          <a:off x="731520" y="1463040"/>
          <a:ext cx="10698480" cy="47548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645920"/>
                <a:gridCol w="3840480"/>
                <a:gridCol w="5212080"/>
              </a:tblGrid>
              <a:tr h="339634">
                <a:tc>
                  <a:txBody>
                    <a:bodyPr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Метод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URL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Описание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</a:tr>
              <a:tr h="339634">
                <a:tc gridSpan="3">
                  <a:txBody>
                    <a:bodyPr/>
                    <a:p>
                      <a:pPr algn="ctr">
                        <a:defRPr/>
                      </a:pPr>
                      <a:r>
                        <a:rPr lang="en-US" sz="2000" b="0" i="0" u="none" strike="noStrike" cap="none" spc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Problems / Tasks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/api/problems/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Список задач (фильтры: difficulty, category_id, search)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/api/problems/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Создать задачу (админ)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/api/problems/{id}/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Детали задачи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PUT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/api/problems/{id}/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Обновить задачу (админ)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PATCH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/api/problems/{id}/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Частично обновить (админ)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/api/problems/{id}/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Удалить задачу (админ)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/api/problems/{id}/run/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Запустить SQL</a:t>
                      </a: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 (песочница)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/api/problems/{id}/submit/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Отправить на проверку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/api/problems/{id}/hints/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Получить подсказки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033137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7267639" name="TextBox 2"/>
          <p:cNvSpPr txBox="1"/>
          <p:nvPr/>
        </p:nvSpPr>
        <p:spPr bwMode="auto"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E8"/>
                </a:solidFill>
                <a:latin typeface="Calibri"/>
              </a:defRPr>
            </a:pPr>
            <a:r>
              <a:rPr/>
              <a:t>API Эндпоинты</a:t>
            </a:r>
            <a:endParaRPr/>
          </a:p>
        </p:txBody>
      </p:sp>
      <p:graphicFrame>
        <p:nvGraphicFramePr>
          <p:cNvPr id="1097604968" name="Table 3"/>
          <p:cNvGraphicFramePr>
            <a:graphicFrameLocks xmlns:a="http://schemas.openxmlformats.org/drawingml/2006/main"/>
          </p:cNvGraphicFramePr>
          <p:nvPr/>
        </p:nvGraphicFramePr>
        <p:xfrm rot="0">
          <a:off x="731520" y="1871253"/>
          <a:ext cx="10698480" cy="350955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645920"/>
                <a:gridCol w="3840480"/>
                <a:gridCol w="5212080"/>
              </a:tblGrid>
              <a:tr h="339634">
                <a:tc>
                  <a:txBody>
                    <a:bodyPr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Метод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URL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Описание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</a:tr>
              <a:tr h="339634">
                <a:tc gridSpan="3">
                  <a:txBody>
                    <a:bodyPr/>
                    <a:p>
                      <a:pPr algn="ctr">
                        <a:defRPr/>
                      </a:pPr>
                      <a:r>
                        <a:rPr lang="en-US" sz="2000" b="0" i="0" u="none" strike="noStrike" cap="none" spc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Submissions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/api/submissions/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История отправок (только свои)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/api/submissions/{id}/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Детали отправки (своей)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339634">
                <a:tc gridSpan="3">
                  <a:txBody>
                    <a:bodyPr/>
                    <a:p>
                      <a:pPr algn="ctr">
                        <a:defRPr/>
                      </a:pPr>
                      <a:r>
                        <a:rPr sz="20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/api/categories/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Список категорий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/api/categories/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Создать категорию (админ)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/api/categories/{id}/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Детали категории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PUT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/api/categories/{id}/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Обновить (админ)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/api/categories/{id}/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Удалить (админ)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775392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7108185" name="TextBox 2"/>
          <p:cNvSpPr txBox="1"/>
          <p:nvPr/>
        </p:nvSpPr>
        <p:spPr bwMode="auto"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E8"/>
                </a:solidFill>
                <a:latin typeface="Calibri"/>
              </a:defRPr>
            </a:pPr>
            <a:r>
              <a:rPr/>
              <a:t>API Эндпоинты</a:t>
            </a:r>
            <a:endParaRPr/>
          </a:p>
        </p:txBody>
      </p:sp>
      <p:graphicFrame>
        <p:nvGraphicFramePr>
          <p:cNvPr id="1159950975" name="Table 3"/>
          <p:cNvGraphicFramePr>
            <a:graphicFrameLocks xmlns:a="http://schemas.openxmlformats.org/drawingml/2006/main"/>
          </p:cNvGraphicFramePr>
          <p:nvPr/>
        </p:nvGraphicFramePr>
        <p:xfrm rot="0">
          <a:off x="731520" y="1463040"/>
          <a:ext cx="10698480" cy="47548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645920"/>
                <a:gridCol w="3840480"/>
                <a:gridCol w="5212080"/>
              </a:tblGrid>
              <a:tr h="339634">
                <a:tc>
                  <a:txBody>
                    <a:bodyPr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Метод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URL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/>
                        <a:t>Описание</a:t>
                      </a:r>
                      <a:endParaRPr/>
                    </a:p>
                  </a:txBody>
                  <a:tcPr anchor="ctr">
                    <a:solidFill>
                      <a:srgbClr val="0086BB"/>
                    </a:solidFill>
                  </a:tcPr>
                </a:tc>
              </a:tr>
              <a:tr h="339634">
                <a:tc gridSpan="3">
                  <a:txBody>
                    <a:bodyPr/>
                    <a:p>
                      <a:pPr algn="ctr">
                        <a:defRPr/>
                      </a:pPr>
                      <a:r>
                        <a:rPr sz="20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Leaderboard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/api/leaderboard/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Таблица лидеров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/api/progress/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Прогресс (решено/всего/%)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339634">
                <a:tc gridSpan="3">
                  <a:txBody>
                    <a:bodyPr/>
                    <a:p>
                      <a:pPr algn="ctr">
                        <a:defRPr/>
                      </a:pPr>
                      <a:r>
                        <a:rPr sz="20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Theory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/api/articles/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Список статей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/api/articles/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Создать статью (админ)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/api/articles/{id}/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Детали статьи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PUT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/api/articles/{id}/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Обновить (админ)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2A3A50"/>
                    </a:solidFill>
                  </a:tcPr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/api/articles/{id}/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0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Удалить (админ)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  <a:tr h="339634">
                <a:tc gridSpan="3">
                  <a:txBody>
                    <a:bodyPr/>
                    <a:p>
                      <a:pPr algn="ctr">
                        <a:defRPr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Image upload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3963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/api/upload-image/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Загрузить изображение (админ)</a:t>
                      </a:r>
                      <a:endParaRPr sz="14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1E2A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640652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9331463" name="TextBox 2"/>
          <p:cNvSpPr txBox="1"/>
          <p:nvPr/>
        </p:nvSpPr>
        <p:spPr bwMode="auto">
          <a:xfrm>
            <a:off x="548640" y="365760"/>
            <a:ext cx="10977119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E8"/>
                </a:solidFill>
                <a:latin typeface="Calibri"/>
              </a:defRPr>
            </a:pPr>
            <a:r>
              <a:rPr/>
              <a:t>SQL_checker</a:t>
            </a:r>
            <a:endParaRPr/>
          </a:p>
        </p:txBody>
      </p:sp>
      <p:pic>
        <p:nvPicPr>
          <p:cNvPr id="11645004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7160" y="1718602"/>
            <a:ext cx="5366777" cy="4777446"/>
          </a:xfrm>
          <a:prstGeom prst="rect">
            <a:avLst/>
          </a:prstGeom>
        </p:spPr>
      </p:pic>
      <p:pic>
        <p:nvPicPr>
          <p:cNvPr id="30705914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662459" y="2152649"/>
            <a:ext cx="6492898" cy="4143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A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205938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0730520" name="TextBox 2"/>
          <p:cNvSpPr txBox="1"/>
          <p:nvPr/>
        </p:nvSpPr>
        <p:spPr bwMode="auto"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A8E8"/>
                </a:solidFill>
                <a:latin typeface="Calibri"/>
              </a:defRPr>
            </a:pPr>
            <a:r>
              <a:rPr/>
              <a:t>Спасибо за внимание!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ONLYOFFICE/9.3.0.140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4</cp:revision>
  <dcterms:created xsi:type="dcterms:W3CDTF">2013-01-27T09:14:16Z</dcterms:created>
  <dcterms:modified xsi:type="dcterms:W3CDTF">2026-07-10T18:18:26Z</dcterms:modified>
  <cp:category/>
</cp:coreProperties>
</file>